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Uncertainty Quantification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Hallucination Detection in LLMs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Kefei Wang · Yizhi Wang · Yifei Dou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GR5293 — Spring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XL  ·  TriviaQA  ·  500 samples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MOTIVATION &amp;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Hallucination Detection Matters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64008" cy="256032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fluent but factually wrong answers — hallucination.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17320"/>
            <a:ext cx="64008" cy="256032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087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Confidence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assign high token probability to wrong answers, making them indistinguishable.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26974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417320"/>
            <a:ext cx="64008" cy="256032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5087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statistical signals from token distributions to flag unreliable outputs.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60520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4160520"/>
            <a:ext cx="64008" cy="68580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42062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token-level log-probs and entropy detect hallucination?  ·  Which signal works best?  ·  Does combining features help?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RELATED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" cy="59436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 et al., 2017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3990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neural networks are overconfident — calibration is critical.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29968"/>
            <a:ext cx="64008" cy="59436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75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SelfCheckGPT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Manakul et al., 2023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2103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hallucination via consistency across multiple stochastic samples. No reference needed.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734056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734056"/>
            <a:ext cx="64008" cy="59436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797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Entropy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0358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Farquhar et al., 2024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28072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semantically equivalent answers before measuring disagreement. Published in Nature.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38144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38144"/>
            <a:ext cx="64008" cy="59436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838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7398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Quach et al., 2023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51129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coverage guarantees for LLM outputs using calibration sets.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142232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142232"/>
            <a:ext cx="64008" cy="59436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Log-prob &amp; Correctness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4439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Kadavath et al., 2022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03120" y="421538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Model-predicted probabilities correlate with correctness on closed-book QA.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METHODOLOGY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554480" cy="77724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TriviaQA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questions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92808" y="1760220"/>
            <a:ext cx="146304" cy="0"/>
          </a:xfrm>
          <a:prstGeom prst="line">
            <a:avLst/>
          </a:prstGeom>
          <a:noFill/>
          <a:ln w="25400">
            <a:solidFill>
              <a:srgbClr val="0F7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371600"/>
            <a:ext cx="1554480" cy="777240"/>
          </a:xfrm>
          <a:prstGeom prst="rect">
            <a:avLst/>
          </a:prstGeom>
          <a:solidFill>
            <a:srgbClr val="1A6B8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13716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XL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decode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30168" y="1760220"/>
            <a:ext cx="146304" cy="0"/>
          </a:xfrm>
          <a:prstGeom prst="line">
            <a:avLst/>
          </a:prstGeom>
          <a:noFill/>
          <a:ln w="25400">
            <a:solidFill>
              <a:srgbClr val="0F7E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1371600"/>
            <a:ext cx="1554480" cy="777240"/>
          </a:xfrm>
          <a:prstGeom prst="rect">
            <a:avLst/>
          </a:prstGeom>
          <a:solidFill>
            <a:srgbClr val="155B7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13716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67528" y="1760220"/>
            <a:ext cx="146304" cy="0"/>
          </a:xfrm>
          <a:prstGeom prst="line">
            <a:avLst/>
          </a:prstGeom>
          <a:noFill/>
          <a:ln w="25400">
            <a:solidFill>
              <a:srgbClr val="0F7E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1371600"/>
            <a:ext cx="1554480" cy="777240"/>
          </a:xfrm>
          <a:prstGeom prst="rect">
            <a:avLst/>
          </a:prstGeom>
          <a:solidFill>
            <a:srgbClr val="104A6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32120" y="13716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04888" y="1760220"/>
            <a:ext cx="146304" cy="0"/>
          </a:xfrm>
          <a:prstGeom prst="line">
            <a:avLst/>
          </a:prstGeom>
          <a:noFill/>
          <a:ln w="25400">
            <a:solidFill>
              <a:srgbClr val="0F7E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371600"/>
            <a:ext cx="1554480" cy="777240"/>
          </a:xfrm>
          <a:prstGeom prst="rect">
            <a:avLst/>
          </a:prstGeom>
          <a:solidFill>
            <a:srgbClr val="0A3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9480" y="13716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331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Features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4114800" cy="384048"/>
          </a:xfrm>
          <a:prstGeom prst="rect">
            <a:avLst/>
          </a:prstGeom>
          <a:solidFill>
            <a:srgbClr val="E0F4F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432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avg_logprob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token log-probability — overall confidence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172968"/>
            <a:ext cx="4114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72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min_logprob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37360" y="3172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token log-prob — weakest step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602736"/>
            <a:ext cx="4114800" cy="384048"/>
          </a:xfrm>
          <a:prstGeom prst="rect">
            <a:avLst/>
          </a:prstGeom>
          <a:solidFill>
            <a:srgbClr val="E0F4F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027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std_logprob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37360" y="36027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of log-probs — confidence variability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032504"/>
            <a:ext cx="4114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325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avg_entropy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40325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token entropy — distributional uncertainty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462272"/>
            <a:ext cx="4114800" cy="384048"/>
          </a:xfrm>
          <a:prstGeom prst="rect">
            <a:avLst/>
          </a:prstGeom>
          <a:solidFill>
            <a:srgbClr val="E0F4F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62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max_entropy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37360" y="4462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entropy — most uncertain step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331720"/>
            <a:ext cx="41605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331720"/>
            <a:ext cx="64008" cy="265176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395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Formulation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46320" y="28346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
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label 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Correct
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label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Hallucinated
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 exact substring + fuzzy similarity (ratio &gt; 0.7)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EXPERIMENTAL SETUP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20240" cy="11887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(TriviaQA val)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920240" cy="11887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417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2011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 / 500)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1920240" cy="11887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417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XL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17720" y="2011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(1.5B params)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1920240" cy="11887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417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66560" y="2011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41148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43200"/>
            <a:ext cx="64008" cy="210312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TriviaQA (no-context)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2461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Closed-book QA benchmark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question has multiple accepted aliases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Flexible matching: substring + fuzzy ratio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imbalance: 80.8% hallucinated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160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743200"/>
            <a:ext cx="64008" cy="210312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XL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2461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1.5B parameter autoregressive LM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Greedy decoding, prompt: Q: ... A: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output_scores=True → token log-probs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Hugging Face Transformers + PyTorch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Performance</a:t>
            </a:r>
            <a:endParaRPr lang="en-US" sz="2600" dirty="0"/>
          </a:p>
        </p:txBody>
      </p:sp>
      <p:pic>
        <p:nvPicPr>
          <p:cNvPr id="5" name="Image 0" descr="/home/claude/evaluation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34440"/>
            <a:ext cx="5486400" cy="34290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234440"/>
          <a:ext cx="2880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13232"/>
                <a:gridCol w="7132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AUPRC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avg_logprob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min_logprob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std_logprob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(LR)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performers: std_logprob (single) &amp; combined LR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RESULTS — FEATURE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Distributions</a:t>
            </a:r>
            <a:endParaRPr lang="en-US" sz="2600" dirty="0"/>
          </a:p>
        </p:txBody>
      </p:sp>
      <p:pic>
        <p:nvPicPr>
          <p:cNvPr id="5" name="Image 0" descr="/home/claude/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34440"/>
            <a:ext cx="4114800" cy="2651760"/>
          </a:xfrm>
          <a:prstGeom prst="rect">
            <a:avLst/>
          </a:prstGeom>
        </p:spPr>
      </p:pic>
      <p:pic>
        <p:nvPicPr>
          <p:cNvPr id="6" name="Image 1" descr="/home/claude/boxplo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234440"/>
            <a:ext cx="429768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4023360"/>
            <a:ext cx="8549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74320" y="4023360"/>
            <a:ext cx="64008" cy="86868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avg_entropy (31%) and std_logprob (27%) dominate feature importance.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confirm hallucinated responses have lower log-probs and higher entropy.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max_entropy is largely redundant (4%).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RESULTS — THRESHOLD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Sensitivity &amp; Confusion Matrix</a:t>
            </a:r>
            <a:endParaRPr lang="en-US" sz="2600" dirty="0"/>
          </a:p>
        </p:txBody>
      </p:sp>
      <p:pic>
        <p:nvPicPr>
          <p:cNvPr id="5" name="Image 0" descr="/home/claude/threshold_sensi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34440"/>
            <a:ext cx="5029200" cy="3154680"/>
          </a:xfrm>
          <a:prstGeom prst="rect">
            <a:avLst/>
          </a:prstGeom>
        </p:spPr>
      </p:pic>
      <p:pic>
        <p:nvPicPr>
          <p:cNvPr id="6" name="Image 1" descr="/home/claude/confusion_matri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1234440"/>
            <a:ext cx="338328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0" y="4160520"/>
            <a:ext cx="105156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0" y="417880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0" y="44622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F1)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6675120" y="4160520"/>
            <a:ext cx="105156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75120" y="417880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0.895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675120" y="44622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7863840" y="4160520"/>
            <a:ext cx="105156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63840" y="417880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863840" y="44622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0.45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RESULTS — DISTRIBUTIONS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Distributions: Correct vs Hallucinated</a:t>
            </a:r>
            <a:endParaRPr lang="en-US" sz="2600" dirty="0"/>
          </a:p>
        </p:txBody>
      </p:sp>
      <p:pic>
        <p:nvPicPr>
          <p:cNvPr id="5" name="Image 0" descr="/home/claude/distribu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34440"/>
            <a:ext cx="85953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023360"/>
            <a:ext cx="2743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4023360"/>
            <a:ext cx="64008" cy="86868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avg_logprob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4361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-0.637  ·  Hallucinated: -0.800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4023360"/>
            <a:ext cx="2743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4023360"/>
            <a:ext cx="64008" cy="86868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avg_entropy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37560" y="4361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1.912  ·  Hallucinated: 2.308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4023360"/>
            <a:ext cx="2743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4023360"/>
            <a:ext cx="64008" cy="86868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std_logprob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4361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0.671  ·  Hallucinated: 0.792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QUALITATIVE ERROR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Confidence: Hallucinated but High Confidence</a:t>
            </a:r>
            <a:endParaRPr lang="en-US" sz="2200" dirty="0"/>
          </a:p>
        </p:txBody>
      </p:sp>
      <p:pic>
        <p:nvPicPr>
          <p:cNvPr id="5" name="Image 0" descr="/home/claude/error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34440"/>
            <a:ext cx="8595360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840480"/>
            <a:ext cx="8549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840480"/>
            <a:ext cx="64008" cy="100584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90448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XL generates narrative/descriptive responses instead of concise factual answers.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responses are hallucinated but receive relatively high confidence scores — demonstrating </a:t>
            </a:r>
            <a:pPr indent="0" marL="0">
              <a:buNone/>
            </a:pPr>
            <a:r>
              <a:rPr lang="en-US" sz="11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confidence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Token-level probability alone is insufficient; the model's output style also matters.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DISCUSSION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64008" cy="146304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std_logprob?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8288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average confidence that matters most, but variability. Hallucinated responses show uneven confidence profiles — confident on some tokens, uncertain on others.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64008" cy="146304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caveat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8288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AUPRC (0.88–0.91) partly reflects class imbalance (80.8% hallucinated). The absolute numbers are inflated; the relative ordering across methods is what matters.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64008" cy="146304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108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limitation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XL is weak by current standards. Larger models (LLaMA-3, Mistral-7B) would produce more balanced labels and a harder detection task.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64008" cy="146304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108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excluded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implementation constraints, consistency across multiple samples was not evaluated. SelfCheckGPT shows this is a promising direction for future work.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298448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uncertainty signals (log-probs, entropy) carry meaningful information about hallucination risk.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167128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std_logprob is the strongest single feature (AUROC 0.715) — confidence variability matters more than mean confidence.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035808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features via logistic regression achieves the best overall performance (AUROC 0.723, AUPRC 0.913).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solidFill>
            <a:srgbClr val="0F7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904488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confidence is real — models generate wrong answers with high token-level confidence, motivating uncertainty-aware deployment.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Uncertainty Quantification for Hallucination Detection</dc:title>
  <dc:subject>PptxGenJS Presentation</dc:subject>
  <dc:creator>PptxGenJS</dc:creator>
  <cp:lastModifiedBy>PptxGenJS</cp:lastModifiedBy>
  <cp:revision>1</cp:revision>
  <dcterms:created xsi:type="dcterms:W3CDTF">2026-05-07T04:17:28Z</dcterms:created>
  <dcterms:modified xsi:type="dcterms:W3CDTF">2026-05-07T04:17:28Z</dcterms:modified>
</cp:coreProperties>
</file>